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Using AI at Work: Prompting, Knowledge (RAG), and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t>Coral Health Advisors</a:t>
            </a:r>
          </a:p>
          <a:p>
            <a:pPr algn="ctr"/>
            <a:r>
              <a:t>Policy · Operations · Strategy</a:t>
            </a:r>
          </a:p>
          <a:p>
            <a:pPr algn="ctr"/>
            <a: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you’ll leave with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Write prompts that are clear, scoped, and safe for client and regulatory work</a:t>
            </a:r>
          </a:p>
          <a:p>
            <a:pPr>
              <a:spcAft>
                <a:spcPts val="600"/>
              </a:spcAft>
              <a:defRPr sz="1800"/>
            </a:pPr>
            <a:r>
              <a:t>Explain what RAG is and when it helps your practice (and when it doesn’t)</a:t>
            </a:r>
          </a:p>
          <a:p>
            <a:pPr>
              <a:spcAft>
                <a:spcPts val="600"/>
              </a:spcAft>
              <a:defRPr sz="1800"/>
            </a:pPr>
            <a:r>
              <a:t>Tell agents apart from chat and spot fit for consulting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consulting teams use AI (including 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Drafting and editing: memos, slides, client emails, scopes of work</a:t>
            </a:r>
          </a:p>
          <a:p>
            <a:pPr>
              <a:spcAft>
                <a:spcPts val="600"/>
              </a:spcAft>
              <a:defRPr sz="1800"/>
            </a:pPr>
            <a:r>
              <a:t>Research and synthesis: CMS/CMMI guidance, federal/state policy, landscape scans (verify every citation)</a:t>
            </a:r>
          </a:p>
          <a:p>
            <a:pPr>
              <a:spcAft>
                <a:spcPts val="600"/>
              </a:spcAft>
              <a:defRPr sz="1800"/>
            </a:pPr>
            <a:r>
              <a:t>Structured work: model comparisons, timelines, stakeholder summaries</a:t>
            </a:r>
          </a:p>
          <a:p>
            <a:pPr>
              <a:spcAft>
                <a:spcPts val="600"/>
              </a:spcAft>
              <a:defRPr sz="1800"/>
            </a:pPr>
            <a:r>
              <a:t>Careful automation: only where repetition + guardrails + policy allow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 rules — health care consulting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Treat PHI and identifiable client information per HIPAA, contracts, and Coral policy — no public tools unless approved</a:t>
            </a:r>
          </a:p>
          <a:p>
            <a:pPr>
              <a:spcAft>
                <a:spcPts val="600"/>
              </a:spcAft>
              <a:defRPr sz="1800"/>
            </a:pPr>
            <a:r>
              <a:t>Verify facts, dates, regulatory citations, and numbers; AI can be confidently wrong</a:t>
            </a:r>
          </a:p>
          <a:p>
            <a:pPr>
              <a:spcAft>
                <a:spcPts val="600"/>
              </a:spcAft>
              <a:defRPr sz="1800"/>
            </a:pPr>
            <a:r>
              <a:t>Use org-approved tools and data boundaries; know what may not leave the firm</a:t>
            </a:r>
          </a:p>
          <a:p>
            <a:pPr>
              <a:spcAft>
                <a:spcPts val="600"/>
              </a:spcAft>
              <a:defRPr sz="1800"/>
            </a:pPr>
            <a:r>
              <a:t>You and your engagement lead remain accountable for what clients receive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Prompting = instructions +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The model follows your audience (e.g., payer vs. provider vs. agency), format, and constraints</a:t>
            </a:r>
          </a:p>
          <a:p>
            <a:pPr>
              <a:spcAft>
                <a:spcPts val="600"/>
              </a:spcAft>
              <a:defRPr sz="1800"/>
            </a:pPr>
            <a:r>
              <a:t>Quality improves when you state goal, constraints, format, and (when helpful) examples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simple template for consulting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Role: “You are a [health policy / VBC / ops] analyst helping [client type].”</a:t>
            </a:r>
          </a:p>
          <a:p>
            <a:pPr>
              <a:spcAft>
                <a:spcPts val="600"/>
              </a:spcAft>
              <a:defRPr sz="1800"/>
            </a:pPr>
            <a:r>
              <a:t>Task: “Produce [memo section | slide outline | summary] for [decision].”</a:t>
            </a:r>
          </a:p>
          <a:p>
            <a:pPr>
              <a:spcAft>
                <a:spcPts val="600"/>
              </a:spcAft>
              <a:defRPr sz="1800"/>
            </a:pPr>
            <a:r>
              <a:t>Constraints: tone, length, what not to invent, compliance and confidentiality</a:t>
            </a:r>
          </a:p>
          <a:p>
            <a:pPr>
              <a:spcAft>
                <a:spcPts val="600"/>
              </a:spcAft>
              <a:defRPr sz="1800"/>
            </a:pPr>
            <a:r>
              <a:t>Inputs: only de-identified or approved excerpts; label gaps (“unknown in pasted text”)</a:t>
            </a:r>
          </a:p>
          <a:p>
            <a:pPr>
              <a:spcAft>
                <a:spcPts val="600"/>
              </a:spcAft>
              <a:defRPr sz="1800"/>
            </a:pPr>
            <a:r>
              <a:t>Output: bullets, table, or numbered steps; optional: “ask 3 clarifying questions first”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Few-shot prompting (show the pattern)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Give 1–3 short examples: “vague exec summary → Coral-style bullets” or “bad slide title → good”</a:t>
            </a:r>
          </a:p>
          <a:p>
            <a:pPr>
              <a:spcAft>
                <a:spcPts val="600"/>
              </a:spcAft>
              <a:defRPr sz="1800"/>
            </a:pPr>
            <a:r>
              <a:t>Locks in format: engagement norms, citation style, and how you frame tradeoffs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(when appropriate)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Ask for a short outline or issue checklist before the full draft</a:t>
            </a:r>
          </a:p>
          <a:p>
            <a:pPr>
              <a:spcAft>
                <a:spcPts val="600"/>
              </a:spcAft>
              <a:defRPr sz="1800"/>
            </a:pPr>
            <a:r>
              <a:t>Useful for prioritizing policy themes, structuring client workshops—still verify against primary sources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failure modes (and fixes)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Too vague → add success criteria, audience, and deliverable type</a:t>
            </a:r>
          </a:p>
          <a:p>
            <a:pPr>
              <a:spcAft>
                <a:spcPts val="600"/>
              </a:spcAft>
              <a:defRPr sz="1800"/>
            </a:pPr>
            <a:r>
              <a:t>Too much at once → split (e.g., landscape first, implications second)</a:t>
            </a:r>
          </a:p>
          <a:p>
            <a:pPr>
              <a:spcAft>
                <a:spcPts val="600"/>
              </a:spcAft>
              <a:defRPr sz="1800"/>
            </a:pPr>
            <a:r>
              <a:t>Hallucinated regs or dates → require citations to pasted or named sources; “say unknown if missing”</a:t>
            </a:r>
          </a:p>
          <a:p>
            <a:pPr>
              <a:spcAft>
                <a:spcPts val="600"/>
              </a:spcAft>
              <a:defRPr sz="1800"/>
            </a:pPr>
            <a:r>
              <a:t>Wrong stakeholder tone → name the audience (e.g., board, CMMI, clinical lead)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(5 minutes) —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Pick a real (non-confidential) task: e.g., outline for a regulatory update or client readout</a:t>
            </a:r>
          </a:p>
          <a:p>
            <a:pPr>
              <a:spcAft>
                <a:spcPts val="600"/>
              </a:spcAft>
              <a:defRPr sz="1800"/>
            </a:pPr>
            <a:r>
              <a:t>Rewrite a vague prompt using the template (previous slide); partner checks constraints + 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RAG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Models don’t know your engagement playbooks, internal methodology, or the latest PDF in your approved library</a:t>
            </a:r>
          </a:p>
          <a:p>
            <a:pPr>
              <a:spcAft>
                <a:spcPts val="600"/>
              </a:spcAft>
              <a:defRPr sz="1800"/>
            </a:pPr>
            <a:r>
              <a:t>Fine-tuning is heavy; you often need answers grounded in your firm’s and clients’ approved documents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RAG is (one picture in your 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Retrieve chunks from approved sources: methodologies, past (sanitized) work products, regulatory libraries</a:t>
            </a:r>
          </a:p>
          <a:p>
            <a:pPr>
              <a:spcAft>
                <a:spcPts val="600"/>
              </a:spcAft>
              <a:defRPr sz="1800"/>
            </a:pPr>
            <a:r>
              <a:t>Augment the prompt with those chunks</a:t>
            </a:r>
          </a:p>
          <a:p>
            <a:pPr>
              <a:spcAft>
                <a:spcPts val="600"/>
              </a:spcAft>
              <a:defRPr sz="1800"/>
            </a:pPr>
            <a:r>
              <a:t>Generate an answer tied to what was retrieved</a:t>
            </a:r>
          </a:p>
          <a:p>
            <a:pPr>
              <a:spcAft>
                <a:spcPts val="600"/>
              </a:spcAft>
              <a:defRPr sz="1800"/>
            </a:pPr>
            <a:r>
              <a:t>Flow: Question → Retrieve ← Approved corpus → Augment prompt → Generate (with citations)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RAG matters for firms like Coral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Ground answers in internal frameworks and vetted external sources clients trust</a:t>
            </a:r>
          </a:p>
          <a:p>
            <a:pPr>
              <a:spcAft>
                <a:spcPts val="600"/>
              </a:spcAft>
              <a:defRPr sz="1800"/>
            </a:pPr>
            <a:r>
              <a:t>Enforce who may see which engagement or document class</a:t>
            </a:r>
          </a:p>
          <a:p>
            <a:pPr>
              <a:spcAft>
                <a:spcPts val="600"/>
              </a:spcAft>
              <a:defRPr sz="1800"/>
            </a:pPr>
            <a:r>
              <a:t>Supports citations so reviewers can validate before anything goes external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Bad retrieval → wrong but plausible policy takes (garbage in, garbage out)</a:t>
            </a:r>
          </a:p>
          <a:p>
            <a:pPr>
              <a:spcAft>
                <a:spcPts val="600"/>
              </a:spcAft>
              <a:defRPr sz="1800"/>
            </a:pPr>
            <a:r>
              <a:t>Stale CMS or state guidance → wrong advice; libraries need owners and refresh</a:t>
            </a:r>
          </a:p>
          <a:p>
            <a:pPr>
              <a:spcAft>
                <a:spcPts val="600"/>
              </a:spcAft>
              <a:defRPr sz="1800"/>
            </a:pPr>
            <a:r>
              <a:t>Prompt injection in retrieved text → treat chunks as untrusted input</a:t>
            </a:r>
          </a:p>
          <a:p>
            <a:pPr>
              <a:spcAft>
                <a:spcPts val="600"/>
              </a:spcAft>
              <a:defRPr sz="1800"/>
            </a:pPr>
            <a:r>
              <a:t>Access control is mandatory: retrieval must match confidentiality and client boundaries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RAG vs when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Good fit: playbooks, regulatory trackers, FAQs, reusable methodology, training corpora</a:t>
            </a:r>
          </a:p>
          <a:p>
            <a:pPr>
              <a:spcAft>
                <a:spcPts val="600"/>
              </a:spcAft>
              <a:defRPr sz="1800"/>
            </a:pPr>
            <a:r>
              <a:t>Poor fit alone: live client systems, definitive legal/compliance sign-off, or clinical decisions without qualified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 vs agent (consulting mental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Chat: Q&amp;A or multi-turn drafting and brainstorming with you in the loop</a:t>
            </a:r>
          </a:p>
          <a:p>
            <a:pPr>
              <a:spcAft>
                <a:spcPts val="600"/>
              </a:spcAft>
              <a:defRPr sz="1800"/>
            </a:pPr>
            <a:r>
              <a:t>Agent: plans, calls tools (search, calendar, CRM, doc repos), iterates until done—only with strict guardrails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agent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Tools: internal search, approved research APIs, calendar, ticket/CRM systems — as policy allows</a:t>
            </a:r>
          </a:p>
          <a:p>
            <a:pPr>
              <a:spcAft>
                <a:spcPts val="600"/>
              </a:spcAft>
              <a:defRPr sz="1800"/>
            </a:pPr>
            <a:r>
              <a:t>Memory: session context vs. stored memory (watch PHI and client identifiers)</a:t>
            </a:r>
          </a:p>
          <a:p>
            <a:pPr>
              <a:spcAft>
                <a:spcPts val="600"/>
              </a:spcAft>
              <a:defRPr sz="1800"/>
            </a:pPr>
            <a:r>
              <a:t>Policies: approvals, rate limits, which tools and tenants an agent may 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agent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Repeatable internal workflows: research packs, first-pass triage, scheduling drafts</a:t>
            </a:r>
          </a:p>
          <a:p>
            <a:pPr>
              <a:spcAft>
                <a:spcPts val="600"/>
              </a:spcAft>
              <a:defRPr sz="1800"/>
            </a:pPr>
            <a:r>
              <a:t>Anything client- or regulator-facing: human review before send or submission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risks (especially in consulting)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Irreversible or external actions: email to clients, filings, purchases — require explicit approval</a:t>
            </a:r>
          </a:p>
          <a:p>
            <a:pPr>
              <a:spcAft>
                <a:spcPts val="600"/>
              </a:spcAft>
              <a:defRPr sz="1800"/>
            </a:pPr>
            <a:r>
              <a:t>Over-broad tools: exfiltrating restricted documents or the wrong client’s data</a:t>
            </a:r>
          </a:p>
          <a:p>
            <a:pPr>
              <a:spcAft>
                <a:spcPts val="600"/>
              </a:spcAft>
              <a:defRPr sz="1800"/>
            </a:pPr>
            <a:r>
              <a:t>Mitigation: least privilege, logging, confirmations, sandboxes, no PHI in unapproved stores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Exercise (5 minutes) —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Name one consulting task that is not agent-ready vs. one that could be with guardrails</a:t>
            </a:r>
          </a:p>
          <a:p>
            <a:pPr>
              <a:spcAft>
                <a:spcPts val="600"/>
              </a:spcAft>
              <a:defRPr sz="1800"/>
            </a:pPr>
            <a:r>
              <a:t>List one approved tool and one human checkpoint you’d require before client use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Prompting: template + examples + verification against primary sources</a:t>
            </a:r>
          </a:p>
          <a:p>
            <a:pPr>
              <a:spcAft>
                <a:spcPts val="600"/>
              </a:spcAft>
              <a:defRPr sz="1800"/>
            </a:pPr>
            <a:r>
              <a:t>RAG: retrieve → augment → generate, with citations and access control</a:t>
            </a:r>
          </a:p>
          <a:p>
            <a:pPr>
              <a:spcAft>
                <a:spcPts val="600"/>
              </a:spcAft>
              <a:defRPr sz="1800"/>
            </a:pPr>
            <a:r>
              <a:t>Agents: tools + policy + human checkpoints — especially for anything external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+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2000"/>
            </a:pPr>
            <a:r>
              <a:t>Confirm Coral’s approved AI tools, data handling, and engagement-specific rules</a:t>
            </a:r>
          </a:p>
          <a:p>
            <a:pPr>
              <a:spcAft>
                <a:spcPts val="600"/>
              </a:spcAft>
              <a:defRPr sz="1800"/>
            </a:pPr>
            <a:r>
              <a:t>Try one prompt redesign on a low-risk internal task this week</a:t>
            </a:r>
          </a:p>
          <a:p>
            <a:pPr>
              <a:spcAft>
                <a:spcPts val="600"/>
              </a:spcAft>
              <a:defRPr sz="1800"/>
            </a:pPr>
            <a:r>
              <a:t>Stay current: insights and newsletters at https://www.coralhealthadvisors.com/ plus firm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